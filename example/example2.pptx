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E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03"/>
  </p:normalViewPr>
  <p:slideViewPr>
    <p:cSldViewPr snapToGrid="0">
      <p:cViewPr>
        <p:scale>
          <a:sx n="100" d="100"/>
          <a:sy n="100" d="100"/>
        </p:scale>
        <p:origin x="9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700077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233131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339675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861996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769747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307068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035059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570618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447110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97185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4154977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919872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5DA6C-CF63-C7BA-C657-696F67120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37908BE9-47F3-2B64-35BD-E223683F4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886" y="475847"/>
            <a:ext cx="3761362" cy="5982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74295" tIns="37148" rIns="74295" bIns="3714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600" b="1" dirty="0">
                <a:solidFill>
                  <a:schemeClr val="bg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#!</a:t>
            </a:r>
            <a:r>
              <a:rPr lang="en-US" sz="600" b="1" dirty="0" err="1">
                <a:solidFill>
                  <a:schemeClr val="bg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main.cpp</a:t>
            </a:r>
            <a:endParaRPr lang="en-US" sz="600" b="1" dirty="0">
              <a:solidFill>
                <a:schemeClr val="bg2">
                  <a:lumMod val="50000"/>
                </a:schemeClr>
              </a:solidFill>
              <a:latin typeface="Roboto Mono" pitchFamily="49" charset="0"/>
              <a:ea typeface="Roboto Mono" pitchFamily="49" charset="0"/>
            </a:endParaRPr>
          </a:p>
          <a:p>
            <a:r>
              <a:rPr lang="en-US" sz="100" dirty="0">
                <a:solidFill>
                  <a:schemeClr val="bg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#include &lt;iostream&gt;</a:t>
            </a:r>
          </a:p>
          <a:p>
            <a:r>
              <a:rPr lang="en-US" sz="100" dirty="0">
                <a:solidFill>
                  <a:schemeClr val="bg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#include &lt;vector&gt;</a:t>
            </a:r>
          </a:p>
          <a:p>
            <a:r>
              <a:rPr lang="en-US" sz="100" dirty="0">
                <a:solidFill>
                  <a:schemeClr val="bg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#include &lt;queue&gt;</a:t>
            </a:r>
          </a:p>
          <a:p>
            <a:r>
              <a:rPr lang="en-US" sz="100" dirty="0">
                <a:solidFill>
                  <a:schemeClr val="bg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#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include &lt;list&gt;</a:t>
            </a:r>
          </a:p>
          <a:p>
            <a:endParaRPr lang="en-US" sz="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using namespace std;</a:t>
            </a:r>
          </a:p>
          <a:p>
            <a:endParaRPr lang="en-US" sz="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class Graph {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int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numVertices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vector&lt;list&lt;int&gt;&gt;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adjLists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vector&lt;bool&gt; visited;</a:t>
            </a:r>
          </a:p>
          <a:p>
            <a:endParaRPr lang="en-US" sz="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public: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Graph(int vertices) {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   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numVertices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 = vertices;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   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adjLists.resize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(vertices);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   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visited.resize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(vertices, false);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}</a:t>
            </a:r>
          </a:p>
          <a:p>
            <a:endParaRPr lang="en-US" sz="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// Add edges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void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addEdge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(int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src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, int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dest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) {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   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adjLists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[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src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].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push_back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(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dest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);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   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adjLists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[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dest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].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push_back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(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src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); // For undirected graph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}</a:t>
            </a:r>
          </a:p>
          <a:p>
            <a:endParaRPr lang="en-US" sz="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// BFS algorithm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    void BFS(int </a:t>
            </a:r>
            <a:r>
              <a:rPr lang="en-US" sz="100" dirty="0" err="1">
                <a:latin typeface="Roboto Mono" pitchFamily="49" charset="0"/>
                <a:ea typeface="Roboto Mono" pitchFamily="49" charset="0"/>
              </a:rPr>
              <a:t>startNode</a:t>
            </a:r>
            <a:r>
              <a:rPr lang="en-US" sz="100" dirty="0">
                <a:latin typeface="Roboto Mono" pitchFamily="49" charset="0"/>
                <a:ea typeface="Roboto Mono" pitchFamily="49" charset="0"/>
              </a:rPr>
              <a:t>);</a:t>
            </a:r>
          </a:p>
          <a:p>
            <a:r>
              <a:rPr lang="en-US" sz="100" dirty="0">
                <a:latin typeface="Roboto Mono" pitchFamily="49" charset="0"/>
                <a:ea typeface="Roboto Mono" pitchFamily="49" charset="0"/>
              </a:rPr>
              <a:t>};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6FC95C-4145-B96F-7133-2470E2996239}"/>
              </a:ext>
            </a:extLst>
          </p:cNvPr>
          <p:cNvSpPr txBox="1"/>
          <p:nvPr/>
        </p:nvSpPr>
        <p:spPr>
          <a:xfrm>
            <a:off x="5340486" y="1402101"/>
            <a:ext cx="4192620" cy="1938992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int main() {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Graph g(6);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(0, 1);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(0, 2);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(1, 3);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(1, 4);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(2, 4);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(3, 4);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g.addEdge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(3, 5);</a:t>
            </a:r>
          </a:p>
          <a:p>
            <a:endParaRPr lang="en-US" sz="8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cout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 &lt;&lt; "Starting Breadth First Search from node 0:" &lt;&lt;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endl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sz="800" dirty="0" err="1">
                <a:latin typeface="Roboto Mono" pitchFamily="49" charset="0"/>
                <a:ea typeface="Roboto Mono" pitchFamily="49" charset="0"/>
              </a:rPr>
              <a:t>g.BFS</a:t>
            </a:r>
            <a:r>
              <a:rPr lang="en-US" sz="800" dirty="0">
                <a:latin typeface="Roboto Mono" pitchFamily="49" charset="0"/>
                <a:ea typeface="Roboto Mono" pitchFamily="49" charset="0"/>
              </a:rPr>
              <a:t>(0);</a:t>
            </a:r>
          </a:p>
          <a:p>
            <a:endParaRPr lang="en-US" sz="8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    return 0;</a:t>
            </a:r>
          </a:p>
          <a:p>
            <a:r>
              <a:rPr lang="en-US" sz="800" dirty="0">
                <a:latin typeface="Roboto Mono" pitchFamily="49" charset="0"/>
                <a:ea typeface="Roboto Mono" pitchFamily="49" charset="0"/>
              </a:rPr>
              <a:t>}</a:t>
            </a:r>
            <a:endParaRPr lang="en-T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3A54-0B8F-0CA1-AA21-7162CED545FE}"/>
              </a:ext>
            </a:extLst>
          </p:cNvPr>
          <p:cNvSpPr txBox="1"/>
          <p:nvPr/>
        </p:nvSpPr>
        <p:spPr>
          <a:xfrm>
            <a:off x="158886" y="1155881"/>
            <a:ext cx="4956242" cy="33085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accent5">
                    <a:lumMod val="75000"/>
                  </a:schemeClr>
                </a:solidFill>
                <a:latin typeface="Roboto Mono" pitchFamily="49" charset="0"/>
                <a:ea typeface="Roboto Mono" pitchFamily="49" charset="0"/>
              </a:rPr>
              <a:t>void Graph::BFS(int </a:t>
            </a:r>
            <a:r>
              <a:rPr lang="en-US" sz="1100" b="1" dirty="0" err="1">
                <a:solidFill>
                  <a:schemeClr val="accent5">
                    <a:lumMod val="75000"/>
                  </a:schemeClr>
                </a:solidFill>
                <a:latin typeface="Roboto Mono" pitchFamily="49" charset="0"/>
                <a:ea typeface="Roboto Mono" pitchFamily="49" charset="0"/>
              </a:rPr>
              <a:t>startNode</a:t>
            </a:r>
            <a:r>
              <a:rPr lang="en-US" sz="1100" b="1" dirty="0">
                <a:solidFill>
                  <a:schemeClr val="accent5">
                    <a:lumMod val="75000"/>
                  </a:schemeClr>
                </a:solidFill>
                <a:latin typeface="Roboto Mono" pitchFamily="49" charset="0"/>
                <a:ea typeface="Roboto Mono" pitchFamily="49" charset="0"/>
              </a:rPr>
              <a:t>) 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{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queue&lt;int&gt; q;</a:t>
            </a:r>
          </a:p>
          <a:p>
            <a:endParaRPr lang="en-US" sz="1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visited[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startNode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] = true;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q.push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(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startNode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);</a:t>
            </a:r>
          </a:p>
          <a:p>
            <a:endParaRPr lang="en-US" sz="1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while (!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q.empty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()) {</a:t>
            </a:r>
          </a:p>
          <a:p>
            <a:r>
              <a:rPr lang="en-US" sz="11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            int </a:t>
            </a:r>
            <a:r>
              <a:rPr lang="en-US" sz="1100" b="1" dirty="0" err="1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currNode</a:t>
            </a:r>
            <a:r>
              <a:rPr lang="en-US" sz="11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 = </a:t>
            </a:r>
            <a:r>
              <a:rPr lang="en-US" sz="1100" b="1" dirty="0" err="1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q.front</a:t>
            </a:r>
            <a:r>
              <a:rPr lang="en-US" sz="11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();</a:t>
            </a:r>
          </a:p>
          <a:p>
            <a:r>
              <a:rPr lang="en-US" sz="11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		 </a:t>
            </a:r>
            <a:r>
              <a:rPr lang="en-US" sz="1100" b="1" dirty="0" err="1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q.pop</a:t>
            </a:r>
            <a:r>
              <a:rPr lang="en-US" sz="11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();</a:t>
            </a:r>
          </a:p>
          <a:p>
            <a:endParaRPr lang="en-US" sz="1100" dirty="0">
              <a:latin typeface="Roboto Mono" pitchFamily="49" charset="0"/>
              <a:ea typeface="Roboto Mono" pitchFamily="49" charset="0"/>
            </a:endParaRP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    for (int neighbor : 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adjLists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[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currNode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]) {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        if (!visited[neighbor]) {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            visited[neighbor] = true;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            </a:t>
            </a:r>
            <a:r>
              <a:rPr lang="en-US" sz="1100" dirty="0" err="1">
                <a:latin typeface="Roboto Mono" pitchFamily="49" charset="0"/>
                <a:ea typeface="Roboto Mono" pitchFamily="49" charset="0"/>
              </a:rPr>
              <a:t>q.push</a:t>
            </a:r>
            <a:r>
              <a:rPr lang="en-US" sz="1100" dirty="0">
                <a:latin typeface="Roboto Mono" pitchFamily="49" charset="0"/>
                <a:ea typeface="Roboto Mono" pitchFamily="49" charset="0"/>
              </a:rPr>
              <a:t>(neighbor);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        }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    }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        }</a:t>
            </a:r>
          </a:p>
          <a:p>
            <a:r>
              <a:rPr lang="en-US" sz="1100" dirty="0">
                <a:latin typeface="Roboto Mono" pitchFamily="49" charset="0"/>
                <a:ea typeface="Roboto Mono" pitchFamily="49" charset="0"/>
              </a:rPr>
              <a:t>}</a:t>
            </a:r>
          </a:p>
          <a:p>
            <a:endParaRPr lang="en-US" sz="1100" dirty="0">
              <a:latin typeface="Roboto Mono" pitchFamily="49" charset="0"/>
              <a:ea typeface="Roboto Mono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8909307-F1DF-F3AB-752D-47636B129B29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2039567" y="1074089"/>
            <a:ext cx="597440" cy="81792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5DE13A-8E5C-9AEE-353A-1EE1DFFB750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5115128" y="2371597"/>
            <a:ext cx="225358" cy="438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6480590-7D8E-9840-92E0-5E751EE868A3}"/>
              </a:ext>
            </a:extLst>
          </p:cNvPr>
          <p:cNvSpPr txBox="1"/>
          <p:nvPr/>
        </p:nvSpPr>
        <p:spPr>
          <a:xfrm>
            <a:off x="677145" y="617695"/>
            <a:ext cx="324310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H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itchFamily="49" charset="0"/>
                <a:ea typeface="Roboto Mono" pitchFamily="49" charset="0"/>
              </a:rPr>
              <a:t>Boilerplate code (can make it really small or hide if you want)</a:t>
            </a:r>
          </a:p>
        </p:txBody>
      </p:sp>
    </p:spTree>
    <p:extLst>
      <p:ext uri="{BB962C8B-B14F-4D97-AF65-F5344CB8AC3E}">
        <p14:creationId xmlns:p14="http://schemas.microsoft.com/office/powerpoint/2010/main" val="456011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</TotalTime>
  <Words>347</Words>
  <Application>Microsoft Macintosh PowerPoint</Application>
  <PresentationFormat>A4 Paper (210x297 mm)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Roboto Mono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Kosolpattanadurong Thitiwat</dc:creator>
  <cp:lastModifiedBy>Kosolpattanadurong Thitiwat</cp:lastModifiedBy>
  <cp:revision>12</cp:revision>
  <dcterms:created xsi:type="dcterms:W3CDTF">2026-03-31T17:21:53Z</dcterms:created>
  <dcterms:modified xsi:type="dcterms:W3CDTF">2026-03-31T18:06:07Z</dcterms:modified>
</cp:coreProperties>
</file>